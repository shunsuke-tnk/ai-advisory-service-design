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9B9B9B"/>
                </a:solidFill>
                <a:latin typeface="Noto Sans JP"/>
              </a:rPr>
              <a:t>「AIを使いたいけど、何から始めれば...」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Oswald"/>
              </a:rPr>
              <a:t>AI ADVISORY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9B9B9B"/>
                </a:solidFill>
                <a:latin typeface="Noto Sans JP"/>
              </a:rPr>
              <a:t>建設業専門のAI顧問が、月10万円で御社に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B9B9B"/>
                </a:solidFill>
                <a:latin typeface="Noto Sans JP"/>
              </a:rPr>
              <a:t>複数回全国トップセールス獲得・5年連続で個人年間売上2億円維持
建設業の現場を知り尽くしたAI専門家が、御社のAI活用を0から伴走支援</a:t>
            </a:r>
          </a:p>
        </p:txBody>
      </p:sp>
      <p:pic>
        <p:nvPicPr>
          <p:cNvPr id="6" name="Picture 5" descr="NOVALI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6126480"/>
            <a:ext cx="1825879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822960"/>
          </a:xfrm>
          <a:prstGeom prst="rect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swald"/>
              </a:rPr>
              <a:t>Problems</a:t>
            </a:r>
          </a:p>
        </p:txBody>
      </p:sp>
      <p:pic>
        <p:nvPicPr>
          <p:cNvPr id="5" name="Picture 4" descr="NOVALI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82880"/>
            <a:ext cx="182587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67247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B9B9B"/>
                </a:solidFill>
                <a:latin typeface="Oswald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Noto Sans JP"/>
              </a:rPr>
              <a:t>こんなお悩みありませんか？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112471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Noto Sans JP"/>
              </a:rPr>
              <a:t>□ 日中は現場、定時後に事務処理。気づけば毎月35時間以上の残業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Noto Sans JP"/>
              </a:rPr>
              <a:t>□ 見積もり作成に2時間以上。原価表を見ながら電卓を叩く日々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Noto Sans JP"/>
              </a:rPr>
              <a:t>□ 日報・写真整理・報告書作成。この『ちょっとした作業』の積み重ねが残業に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Noto Sans JP"/>
              </a:rPr>
              <a:t>□ 提案資料がいつも似たようなものになり、差別化できず契約率が上がらない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Noto Sans JP"/>
              </a:rPr>
              <a:t>□ チラシ制作を外注すると約20万円。自分で作りたいがデザインスキルも時間もない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Noto Sans JP"/>
              </a:rPr>
              <a:t>□ AIを使いたいが、何から始めればいいかわからない。高額な投資のイメージもある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Noto Sans JP"/>
              </a:rPr>
              <a:t>□ AI人材を採用したいが年収も高額。でも若手に教えられるほど自分も詳しくない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D1E79"/>
                </a:solidFill>
                <a:latin typeface="Noto Sans JP"/>
              </a:rPr>
              <a:t>「AIを導入したいけど、どこから手をつければ...」
その悩み、建設業で毎日0時残業から定時帰りを実現した私が、0から一緒に解決します。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822960"/>
          </a:xfrm>
          <a:prstGeom prst="rect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swald"/>
              </a:rPr>
              <a:t>Why AI Projects Fail</a:t>
            </a:r>
          </a:p>
        </p:txBody>
      </p:sp>
      <p:pic>
        <p:nvPicPr>
          <p:cNvPr id="5" name="Picture 4" descr="NOVALI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82880"/>
            <a:ext cx="182587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67247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B9B9B"/>
                </a:solidFill>
                <a:latin typeface="Oswald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Noto Sans JP"/>
              </a:rPr>
              <a:t>なぜ多くの会社がAI導入に失敗するのか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5303520" cy="2011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1E79"/>
                </a:solidFill>
                <a:latin typeface="Noto Sans JP"/>
              </a:rPr>
              <a:t>多くの人が想像する『効率化』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  <a:latin typeface="Noto Sans JP"/>
              </a:rPr>
              <a:t>「見積もり作成が、ボタン一つで終わる」
「提案書が、自動で完璧に仕上がる」
たしかに、AIがあれば実現可能です。
しかし、最大の効率化とは、
もっと地味な改善の積み重ねです。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760720" cy="2011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73736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1E79"/>
                </a:solidFill>
                <a:latin typeface="Noto Sans JP"/>
              </a:rPr>
              <a:t>本当の効率化とは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  <a:latin typeface="Noto Sans JP"/>
              </a:rPr>
              <a:t>「原価を調べる5分」を2分に。
「文章を考える3分」を1分に。
「ファイル名をつける2分」を30秒に。
5分の短縮を10個実現するだけで、50分。
これを10日やったら、500分。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1E79"/>
                </a:solidFill>
                <a:latin typeface="Noto Sans JP"/>
              </a:rPr>
              <a:t>でも、アプリや外注では解決しない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Noto Sans JP"/>
              </a:rPr>
              <a:t>「常に、あなたの会社のどこを効率化できるか」を見極め続ける人が必要だから。
業務はどんなものがあって、どう分解すればいいのか。どこにAIが使えて、どこに使えないのか。
それを判断して、解決策まで導く。これは、専門家がいないとできません。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000000"/>
                </a:solidFill>
                <a:latin typeface="Noto Sans JP"/>
              </a:rPr>
              <a:t>だから、「AI顧問」という形を作りました。常に寄り添ってくれる人。伴走してくれる人。それが、このサービスの本質です。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822960"/>
          </a:xfrm>
          <a:prstGeom prst="rect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swald"/>
              </a:rPr>
              <a:t>My Story</a:t>
            </a:r>
          </a:p>
        </p:txBody>
      </p:sp>
      <p:pic>
        <p:nvPicPr>
          <p:cNvPr id="5" name="Picture 4" descr="NOVALI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82880"/>
            <a:ext cx="182587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67247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B9B9B"/>
                </a:solidFill>
                <a:latin typeface="Oswald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Noto Sans JP"/>
              </a:rPr>
              <a:t>なぜ私が建設業に特化するのか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68580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1E79"/>
                </a:solidFill>
                <a:latin typeface="Noto Sans JP"/>
              </a:rPr>
              <a:t>私がこのサービスを作った理由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00000"/>
                </a:solidFill>
                <a:latin typeface="Noto Sans JP"/>
              </a:rPr>
              <a:t>リフォーム営業として入社した頃、毎日0時を超える残業が当たり前でした。
見積もり作成に2時間以上。原価表すらなく、FAXを指で照らし合わせて原価を調べる。日中は現場、帰社してから事務作業。どれだけ頑張っても、12時を切ることがない。
ある時、気づきました。
「こんな環境で、新しい社員が定着するわけがない。」
だから私は、効率化を始めました。
提案資料のテンプレートを作り直し、原価表を自分で更新し、見積もりシステムを自作。社内に数え切れないほどあった報告書式。目につくものを片っ端から直していきました。
身の回りのすべてを、端から端まで効率化しました。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45920"/>
            <a:ext cx="4206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1E79"/>
                </a:solidFill>
                <a:latin typeface="Noto Sans JP"/>
              </a:rPr>
              <a:t>その結果</a:t>
            </a:r>
          </a:p>
          <a:p>
            <a:pPr>
              <a:spcBef>
                <a:spcPts val="1600"/>
              </a:spcBef>
            </a:pPr>
            <a:r>
              <a:rPr sz="1200">
                <a:solidFill>
                  <a:srgbClr val="9B9B9B"/>
                </a:solidFill>
                <a:latin typeface="Noto Sans JP"/>
              </a:rPr>
              <a:t>見積もり作成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0000"/>
                </a:solidFill>
                <a:latin typeface="Noto Sans JP"/>
              </a:rPr>
              <a:t>2時間 → 10分</a:t>
            </a:r>
          </a:p>
          <a:p>
            <a:pPr>
              <a:spcBef>
                <a:spcPts val="1600"/>
              </a:spcBef>
            </a:pPr>
            <a:r>
              <a:rPr sz="1200">
                <a:solidFill>
                  <a:srgbClr val="9B9B9B"/>
                </a:solidFill>
                <a:latin typeface="Noto Sans JP"/>
              </a:rPr>
              <a:t>毎日0時残業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0000"/>
                </a:solidFill>
                <a:latin typeface="Noto Sans JP"/>
              </a:rPr>
              <a:t>→ 定時帰り</a:t>
            </a:r>
          </a:p>
          <a:p>
            <a:pPr>
              <a:spcBef>
                <a:spcPts val="1600"/>
              </a:spcBef>
            </a:pPr>
            <a:r>
              <a:rPr sz="1200">
                <a:solidFill>
                  <a:srgbClr val="9B9B9B"/>
                </a:solidFill>
                <a:latin typeface="Noto Sans JP"/>
              </a:rPr>
              <a:t>全国トップセールス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0000"/>
                </a:solidFill>
                <a:latin typeface="Noto Sans JP"/>
              </a:rPr>
              <a:t>複数回獲得</a:t>
            </a:r>
          </a:p>
          <a:p>
            <a:pPr>
              <a:spcBef>
                <a:spcPts val="1600"/>
              </a:spcBef>
            </a:pPr>
            <a:r>
              <a:rPr sz="1200">
                <a:solidFill>
                  <a:srgbClr val="9B9B9B"/>
                </a:solidFill>
                <a:latin typeface="Noto Sans JP"/>
              </a:rPr>
              <a:t>5年連続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0000"/>
                </a:solidFill>
                <a:latin typeface="Noto Sans JP"/>
              </a:rPr>
              <a:t>年間売上2億円</a:t>
            </a:r>
          </a:p>
          <a:p>
            <a:pPr>
              <a:spcBef>
                <a:spcPts val="1600"/>
              </a:spcBef>
            </a:pPr>
            <a:r>
              <a:rPr sz="1200">
                <a:solidFill>
                  <a:srgbClr val="9B9B9B"/>
                </a:solidFill>
                <a:latin typeface="Noto Sans JP"/>
              </a:rPr>
              <a:t>創業40年で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0000"/>
                </a:solidFill>
                <a:latin typeface="Noto Sans JP"/>
              </a:rPr>
              <a:t>過去最高売上達成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822960"/>
          </a:xfrm>
          <a:prstGeom prst="rect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swald"/>
              </a:rPr>
              <a:t>Service Concept</a:t>
            </a:r>
          </a:p>
        </p:txBody>
      </p:sp>
      <p:pic>
        <p:nvPicPr>
          <p:cNvPr id="5" name="Picture 4" descr="NOVALI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82880"/>
            <a:ext cx="182587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67247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B9B9B"/>
                </a:solidFill>
                <a:latin typeface="Oswald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Noto Sans JP"/>
              </a:rPr>
              <a:t>AI人材を「採用」するのではなく、「顧問」として迎える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1124712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AI人材を採用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5303520" cy="548640"/>
          </a:xfrm>
          <a:prstGeom prst="rect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87451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AI顧問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Noto Sans JP"/>
              </a:rPr>
              <a:t>月額 25万円〜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56032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D1E79"/>
                </a:solidFill>
                <a:latin typeface="Noto Sans JP"/>
              </a:rPr>
              <a:t>月額 10万円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54679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Noto Sans JP"/>
              </a:rPr>
              <a:t>採用活動が必要（求人・面接・選考）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154679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Noto Sans JP"/>
              </a:rPr>
              <a:t>今すぐ始められる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Noto Sans JP"/>
              </a:rPr>
              <a:t>教育しなければならない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749039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Noto Sans JP"/>
              </a:rPr>
              <a:t>教育してくれる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4340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Noto Sans JP"/>
              </a:rPr>
              <a:t>スキルの見極めが困難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34340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Noto Sans JP"/>
              </a:rPr>
              <a:t>どんなAIにも対応可能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Noto Sans JP"/>
              </a:rPr>
              <a:t>辞めるリスクがある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93776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Noto Sans JP"/>
              </a:rPr>
              <a:t>辞めない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D1E79"/>
                </a:solidFill>
                <a:latin typeface="Noto Sans JP"/>
              </a:rPr>
              <a:t>「この人に聞けば、AI周りはなんとかなる」そんな安心感を、月10万円で。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822960"/>
          </a:xfrm>
          <a:prstGeom prst="rect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swald"/>
              </a:rPr>
              <a:t>Pricing Plans</a:t>
            </a:r>
          </a:p>
        </p:txBody>
      </p:sp>
      <p:pic>
        <p:nvPicPr>
          <p:cNvPr id="5" name="Picture 4" descr="NOVALI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82880"/>
            <a:ext cx="182587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67247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B9B9B"/>
                </a:solidFill>
                <a:latin typeface="Oswald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Noto Sans JP"/>
              </a:rPr>
              <a:t>3つのプランからお選びいただけます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35661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3832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伴走プラン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Noto Sans JP"/>
              </a:rPr>
              <a:t>月額 15万円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9B9B9B"/>
                </a:solidFill>
                <a:latin typeface="Noto Sans JP"/>
              </a:rPr>
              <a:t>「AI専門家が、御社のそばに」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0000"/>
                </a:solidFill>
                <a:latin typeface="Noto Sans JP"/>
              </a:rPr>
              <a:t>・チャット無制限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0000"/>
                </a:solidFill>
                <a:latin typeface="Noto Sans JP"/>
              </a:rPr>
              <a:t>・キックオフMTG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0000"/>
                </a:solidFill>
                <a:latin typeface="Noto Sans JP"/>
              </a:rPr>
              <a:t>・振り返りMTG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0000"/>
                </a:solidFill>
                <a:latin typeface="Noto Sans JP"/>
              </a:rPr>
              <a:t>・月次レポート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60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B9B9B"/>
                </a:solidFill>
                <a:latin typeface="Noto Sans JP"/>
              </a:rPr>
              <a:t>まずはAI活用を始めたい方向け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645920"/>
            <a:ext cx="35661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737360"/>
            <a:ext cx="3383280" cy="457200"/>
          </a:xfrm>
          <a:prstGeom prst="rect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755648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自走プラン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2860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D1E79"/>
                </a:solidFill>
                <a:latin typeface="Noto Sans JP"/>
              </a:rPr>
              <a:t>月額 40万円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7432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9B9B9B"/>
                </a:solidFill>
                <a:latin typeface="Noto Sans JP"/>
              </a:rPr>
              <a:t>「社内にAI人材を育てる」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2004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0000"/>
                </a:solidFill>
                <a:latin typeface="Noto Sans JP"/>
              </a:rPr>
              <a:t>・伴走プラン全内容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0000"/>
                </a:solidFill>
                <a:latin typeface="Noto Sans JP"/>
              </a:rPr>
              <a:t>・社員研修（4名まで）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0000"/>
                </a:solidFill>
                <a:latin typeface="Noto Sans JP"/>
              </a:rPr>
              <a:t>・内製化支援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760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B9B9B"/>
                </a:solidFill>
                <a:latin typeface="Noto Sans JP"/>
              </a:rPr>
              <a:t>社員にAIスキルを身につけさせたい方向け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1645920"/>
            <a:ext cx="35661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737360"/>
            <a:ext cx="33832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755648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エージェント開発プラン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2860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Noto Sans JP"/>
              </a:rPr>
              <a:t>月額 60万円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7432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9B9B9B"/>
                </a:solidFill>
                <a:latin typeface="Noto Sans JP"/>
              </a:rPr>
              <a:t>「御社専用のAIツールを開発」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2004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0000"/>
                </a:solidFill>
                <a:latin typeface="Noto Sans JP"/>
              </a:rPr>
              <a:t>・要件整理MTG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0000"/>
                </a:solidFill>
                <a:latin typeface="Noto Sans JP"/>
              </a:rPr>
              <a:t>・月1開発MTG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0000"/>
                </a:solidFill>
                <a:latin typeface="Noto Sans JP"/>
              </a:rPr>
              <a:t>・オーダーメイド開発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760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B9B9B"/>
                </a:solidFill>
                <a:latin typeface="Noto Sans JP"/>
              </a:rPr>
              <a:t>「これを作ってほしい」がある方向け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822960"/>
          </a:xfrm>
          <a:prstGeom prst="rect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swald"/>
              </a:rPr>
              <a:t>Plan Comparison</a:t>
            </a:r>
          </a:p>
        </p:txBody>
      </p:sp>
      <p:pic>
        <p:nvPicPr>
          <p:cNvPr id="5" name="Picture 4" descr="NOVALI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82880"/>
            <a:ext cx="182587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67247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B9B9B"/>
                </a:solidFill>
                <a:latin typeface="Oswald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Noto Sans JP"/>
              </a:rPr>
              <a:t>プラン比較表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1124712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3200400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6479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項目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1691640"/>
            <a:ext cx="2560320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764792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伴走プラン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91640"/>
            <a:ext cx="2560320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自走プラン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691640"/>
            <a:ext cx="2743200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764792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エージェント開発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30552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20370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Noto Sans JP"/>
              </a:rPr>
              <a:t>月額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130552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2203704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D1E79"/>
                </a:solidFill>
                <a:latin typeface="Noto Sans JP"/>
              </a:rPr>
              <a:t>15万円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130552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203704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D1E79"/>
                </a:solidFill>
                <a:latin typeface="Noto Sans JP"/>
              </a:rPr>
              <a:t>40万円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2130552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2203704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D1E79"/>
                </a:solidFill>
                <a:latin typeface="Noto Sans JP"/>
              </a:rPr>
              <a:t>60万円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569464"/>
            <a:ext cx="320040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642616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Noto Sans JP"/>
              </a:rPr>
              <a:t>チャット相談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2569464"/>
            <a:ext cx="256032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60" y="2642616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Noto Sans JP"/>
              </a:rPr>
              <a:t>◎ 無制限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569464"/>
            <a:ext cx="256032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642616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Noto Sans JP"/>
              </a:rPr>
              <a:t>◎ 無制限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2569464"/>
            <a:ext cx="274320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2642616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Noto Sans JP"/>
              </a:rPr>
              <a:t>○ 開発関連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008376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3081528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Noto Sans JP"/>
              </a:rPr>
              <a:t>キックオフMTG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3008376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94760" y="3081528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D1E79"/>
                </a:solidFill>
                <a:latin typeface="Noto Sans JP"/>
              </a:rPr>
              <a:t>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008376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081528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D1E79"/>
                </a:solidFill>
                <a:latin typeface="Noto Sans JP"/>
              </a:rPr>
              <a:t>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3008376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15400" y="3081528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D1E79"/>
                </a:solidFill>
                <a:latin typeface="Noto Sans JP"/>
              </a:rPr>
              <a:t>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447288"/>
            <a:ext cx="320040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52044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Noto Sans JP"/>
              </a:rPr>
              <a:t>振り返りMTG（3ヶ月後）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3447288"/>
            <a:ext cx="256032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94760" y="3520440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D1E79"/>
                </a:solidFill>
                <a:latin typeface="Noto Sans JP"/>
              </a:rPr>
              <a:t>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447288"/>
            <a:ext cx="256032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3520440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D1E79"/>
                </a:solidFill>
                <a:latin typeface="Noto Sans JP"/>
              </a:rPr>
              <a:t>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69680" y="3447288"/>
            <a:ext cx="274320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15400" y="3520440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D1E79"/>
                </a:solidFill>
                <a:latin typeface="Noto Sans JP"/>
              </a:rPr>
              <a:t>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886200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395935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Noto Sans JP"/>
              </a:rPr>
              <a:t>月次レポート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40" y="3886200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94760" y="3959352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D1E79"/>
                </a:solidFill>
                <a:latin typeface="Noto Sans JP"/>
              </a:rPr>
              <a:t>◎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886200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3959352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D1E79"/>
                </a:solidFill>
                <a:latin typeface="Noto Sans JP"/>
              </a:rPr>
              <a:t>◎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69680" y="388620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15400" y="3959352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Noto Sans JP"/>
              </a:rPr>
              <a:t>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325112"/>
            <a:ext cx="320040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439826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Noto Sans JP"/>
              </a:rPr>
              <a:t>月1開発MTG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4325112"/>
            <a:ext cx="256032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94760" y="4398264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9B9B"/>
                </a:solidFill>
                <a:latin typeface="Noto Sans JP"/>
              </a:rPr>
              <a:t>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4325112"/>
            <a:ext cx="256032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55080" y="4398264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9B9B"/>
                </a:solidFill>
                <a:latin typeface="Noto Sans JP"/>
              </a:rPr>
              <a:t>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69680" y="4325112"/>
            <a:ext cx="274320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15400" y="4398264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D1E79"/>
                </a:solidFill>
                <a:latin typeface="Noto Sans JP"/>
              </a:rPr>
              <a:t>◎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4764024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" y="4837176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Noto Sans JP"/>
              </a:rPr>
              <a:t>社員研修（4名まで）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49040" y="4764024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94760" y="4837176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9B9B"/>
                </a:solidFill>
                <a:latin typeface="Noto Sans JP"/>
              </a:rPr>
              <a:t>−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4764024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55080" y="4837176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D1E79"/>
                </a:solidFill>
                <a:latin typeface="Noto Sans JP"/>
              </a:rPr>
              <a:t>◎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69680" y="4764024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15400" y="4837176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9B9B"/>
                </a:solidFill>
                <a:latin typeface="Noto Sans JP"/>
              </a:rPr>
              <a:t>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5202936"/>
            <a:ext cx="320040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4360" y="5276088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Noto Sans JP"/>
              </a:rPr>
              <a:t>内製化支援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5202936"/>
            <a:ext cx="256032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794760" y="5276088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9B9B"/>
                </a:solidFill>
                <a:latin typeface="Noto Sans JP"/>
              </a:rPr>
              <a:t>−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09360" y="5202936"/>
            <a:ext cx="256032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55080" y="5276088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D1E79"/>
                </a:solidFill>
                <a:latin typeface="Noto Sans JP"/>
              </a:rPr>
              <a:t>◎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69680" y="5202936"/>
            <a:ext cx="2743200" cy="438912"/>
          </a:xfrm>
          <a:prstGeom prst="rect">
            <a:avLst/>
          </a:prstGeom>
          <a:solidFill>
            <a:srgbClr val="F5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15400" y="5276088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9B9B"/>
                </a:solidFill>
                <a:latin typeface="Noto Sans JP"/>
              </a:rPr>
              <a:t>−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5641848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4360" y="571500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Noto Sans JP"/>
              </a:rPr>
              <a:t>オーダーメイド開発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749040" y="5641848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794760" y="5715000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9B9B"/>
                </a:solidFill>
                <a:latin typeface="Noto Sans JP"/>
              </a:rPr>
              <a:t>−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09360" y="5641848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80" y="5715000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9B9B"/>
                </a:solidFill>
                <a:latin typeface="Noto Sans JP"/>
              </a:rPr>
              <a:t>−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869680" y="5641848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15400" y="5715000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D1E79"/>
                </a:solidFill>
                <a:latin typeface="Noto Sans JP"/>
              </a:rPr>
              <a:t>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822960"/>
          </a:xfrm>
          <a:prstGeom prst="rect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swald"/>
              </a:rPr>
              <a:t>Contract &amp; Flow</a:t>
            </a:r>
          </a:p>
        </p:txBody>
      </p:sp>
      <p:pic>
        <p:nvPicPr>
          <p:cNvPr id="5" name="Picture 4" descr="NOVALI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82880"/>
            <a:ext cx="182587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67247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B9B9B"/>
                </a:solidFill>
                <a:latin typeface="Oswald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Noto Sans JP"/>
              </a:rPr>
              <a:t>契約条件・ご利用の流れ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41148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D1E79"/>
                </a:solidFill>
                <a:latin typeface="Noto Sans JP"/>
              </a:rPr>
              <a:t>契約条件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9B9B9B"/>
                </a:solidFill>
                <a:latin typeface="Noto Sans JP"/>
              </a:rPr>
              <a:t>最低契約期間：</a:t>
            </a:r>
            <a:r>
              <a:rPr sz="1400" b="1">
                <a:solidFill>
                  <a:srgbClr val="000000"/>
                </a:solidFill>
                <a:latin typeface="Noto Sans JP"/>
              </a:rPr>
              <a:t>3ヶ月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9B9B9B"/>
                </a:solidFill>
                <a:latin typeface="Noto Sans JP"/>
              </a:rPr>
              <a:t>試用期間：</a:t>
            </a:r>
            <a:r>
              <a:rPr sz="1400" b="1">
                <a:solidFill>
                  <a:srgbClr val="000000"/>
                </a:solidFill>
                <a:latin typeface="Noto Sans JP"/>
              </a:rPr>
              <a:t>最初の1ヶ月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9B9B9B"/>
                </a:solidFill>
                <a:latin typeface="Noto Sans JP"/>
              </a:rPr>
              <a:t>支払い：</a:t>
            </a:r>
            <a:r>
              <a:rPr sz="1400" b="1">
                <a:solidFill>
                  <a:srgbClr val="000000"/>
                </a:solidFill>
                <a:latin typeface="Noto Sans JP"/>
              </a:rPr>
              <a:t>月額・前払い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554480"/>
            <a:ext cx="694944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69164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D1E79"/>
                </a:solidFill>
                <a:latin typeface="Noto Sans JP"/>
              </a:rPr>
              <a:t>ご利用の流れ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2194560"/>
            <a:ext cx="365760" cy="365760"/>
          </a:xfrm>
          <a:prstGeom prst="ellipse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2402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1945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oto Sans JP"/>
              </a:rPr>
              <a:t>無料AI活用診断（30分・Zoom）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514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B9B9B"/>
                </a:solidFill>
                <a:latin typeface="Noto Sans JP"/>
              </a:rPr>
              <a:t>現状の業務をヒアリング、改善ポイントを洗い出し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93792" y="2697480"/>
            <a:ext cx="36576" cy="45720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29200" y="3200400"/>
            <a:ext cx="365760" cy="365760"/>
          </a:xfrm>
          <a:prstGeom prst="ellipse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32461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2004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oto Sans JP"/>
              </a:rPr>
              <a:t>ロードマップ提示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5204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B9B9B"/>
                </a:solidFill>
                <a:latin typeface="Noto Sans JP"/>
              </a:rPr>
              <a:t>「何を」「どの順番で」改善するかを明確化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93792" y="3703320"/>
            <a:ext cx="36576" cy="45720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29200" y="4206240"/>
            <a:ext cx="365760" cy="365760"/>
          </a:xfrm>
          <a:prstGeom prst="ellipse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42519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2062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oto Sans JP"/>
              </a:rPr>
              <a:t>ご契約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93792" y="4617720"/>
            <a:ext cx="36576" cy="27432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4937760"/>
            <a:ext cx="365760" cy="365760"/>
          </a:xfrm>
          <a:prstGeom prst="ellipse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9834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9377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oto Sans JP"/>
              </a:rPr>
              <a:t>サービス開始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257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B9B9B"/>
                </a:solidFill>
                <a:latin typeface="Noto Sans JP"/>
              </a:rPr>
              <a:t>キックオフMTGから開始、チャット相談スタート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822960"/>
          </a:xfrm>
          <a:prstGeom prst="rect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swald"/>
              </a:rPr>
              <a:t>FAQ</a:t>
            </a:r>
          </a:p>
        </p:txBody>
      </p:sp>
      <p:pic>
        <p:nvPicPr>
          <p:cNvPr id="5" name="Picture 4" descr="NOVALI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82880"/>
            <a:ext cx="182587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67247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B9B9B"/>
                </a:solidFill>
                <a:latin typeface="Oswald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Noto Sans JP"/>
              </a:rPr>
              <a:t>よくある質問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1124712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D1E79"/>
                </a:solidFill>
                <a:latin typeface="Noto Sans JP"/>
              </a:rPr>
              <a:t>Q. なぜ「3ヶ月」なのですか？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Noto Sans JP"/>
              </a:rPr>
              <a:t>→ 慣れる。習慣化する。日常に溶け込ませる。そこまで伴走して、初めて「効果が出た」と実感できます。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D1E79"/>
                </a:solidFill>
                <a:latin typeface="Noto Sans JP"/>
              </a:rPr>
              <a:t>Q. 試用期間とは何ですか？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Noto Sans JP"/>
              </a:rPr>
              <a:t>→ 最初の1ヶ月で相性を確認。万が一「合わない」と感じた場合は、1ヶ月で終了可能です。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D1E79"/>
                </a:solidFill>
                <a:latin typeface="Noto Sans JP"/>
              </a:rPr>
              <a:t>Q. 途中でプラン変更はできますか？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Noto Sans JP"/>
              </a:rPr>
              <a:t>→ はい。アップグレード・ダウングレードどちらも対応しています。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D1E79"/>
                </a:solidFill>
                <a:latin typeface="Noto Sans JP"/>
              </a:rPr>
              <a:t>Q. チャット相談はどのくらいで返信がありますか？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Noto Sans JP"/>
              </a:rPr>
              <a:t>→ 24時間以内に返信いたします。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D1E79"/>
                </a:solidFill>
                <a:latin typeface="Noto Sans JP"/>
              </a:rPr>
              <a:t>Q. どんな相談ができますか？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Noto Sans JP"/>
              </a:rPr>
              <a:t>→ AIに関することなら、どんな相談でも可能です。「こんなこと聞いていいのかな？」もお気軽に。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822960"/>
          </a:xfrm>
          <a:prstGeom prst="rect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swald"/>
              </a:rPr>
              <a:t>Next Step</a:t>
            </a:r>
          </a:p>
        </p:txBody>
      </p:sp>
      <p:pic>
        <p:nvPicPr>
          <p:cNvPr id="5" name="Picture 4" descr="NOVALI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82880"/>
            <a:ext cx="182587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67247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B9B9B"/>
                </a:solidFill>
                <a:latin typeface="Oswald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Noto Sans JP"/>
              </a:rPr>
              <a:t>次のステップ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1124712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D1E79"/>
                </a:solidFill>
                <a:latin typeface="Noto Sans JP"/>
              </a:rPr>
              <a:t>まずは無料診断から</a:t>
            </a:r>
          </a:p>
          <a:p>
            <a:pPr>
              <a:spcBef>
                <a:spcPts val="1200"/>
              </a:spcBef>
            </a:pPr>
            <a:r>
              <a:rPr sz="1200">
                <a:solidFill>
                  <a:srgbClr val="000000"/>
                </a:solidFill>
                <a:latin typeface="Noto Sans JP"/>
              </a:rPr>
              <a:t>「何を導入すべきかわからない」
「どこを改善すべきかわからない」
そんな状態で大丈夫です。
大事なのは、「どこを直すべきか」を知ること。
それがわかれば、あとは一つずつ進めるだけです。
改善できること、できないこと。
優先すべきこと、後回しでいいこと。
プロの目で、御社のAI活用ポイントを診断します。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828800"/>
            <a:ext cx="4572000" cy="4114800"/>
          </a:xfrm>
          <a:prstGeom prst="roundRect">
            <a:avLst>
              <a:gd name="adj" fmla="val 3000"/>
            </a:avLst>
          </a:prstGeom>
          <a:solidFill>
            <a:srgbClr val="F5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01168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Noto Sans JP"/>
              </a:rPr>
              <a:t>無料AI活用診断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46888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D1E79"/>
                </a:solidFill>
                <a:latin typeface="Noto Sans JP"/>
              </a:rPr>
              <a:t>30分・Zoom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92608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Noto Sans JP"/>
              </a:rPr>
              <a:t>・御社の業務をヒアリング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Noto Sans JP"/>
              </a:rPr>
              <a:t>・改善ポイント・優先順位をその場でお伝え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Noto Sans JP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D1E79"/>
                </a:solidFill>
                <a:latin typeface="Noto Sans JP"/>
              </a:rPr>
              <a:t>押し売りは一切ありません。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D1E79"/>
                </a:solidFill>
                <a:latin typeface="Noto Sans JP"/>
              </a:rPr>
              <a:t>診断だけでもOK。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822960"/>
          </a:xfrm>
          <a:prstGeom prst="rect">
            <a:avLst/>
          </a:prstGeom>
          <a:solidFill>
            <a:srgbClr val="ED1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swald"/>
              </a:rPr>
              <a:t>Contact</a:t>
            </a:r>
          </a:p>
        </p:txBody>
      </p:sp>
      <p:pic>
        <p:nvPicPr>
          <p:cNvPr id="5" name="Picture 4" descr="NOVALI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82880"/>
            <a:ext cx="1825879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67247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B9B9B"/>
                </a:solidFill>
                <a:latin typeface="Oswald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Noto Sans JP"/>
              </a:rPr>
              <a:t>お問い合わせ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1124712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1031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ED1E79"/>
                </a:solidFill>
                <a:latin typeface="Noto Sans JP"/>
              </a:rP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03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Noto Sans JP"/>
              </a:rPr>
              <a:t>https://novalisgroup.jp/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ED1E79"/>
                </a:solidFill>
                <a:latin typeface="Noto Sans JP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Noto Sans JP"/>
              </a:rPr>
              <a:t>shunsuke.tanaka@novalisgroup.biz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931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ED1E79"/>
                </a:solidFill>
                <a:latin typeface="Noto Sans JP"/>
              </a:rPr>
              <a:t>住所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31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Noto Sans JP"/>
              </a:rPr>
              <a:t>〒152-0004 東京都目黒区鷹番2丁目20番20号
イニッゾ学芸大学5-17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9B9B9B"/>
                </a:solidFill>
                <a:latin typeface="Noto Sans JP"/>
              </a:rPr>
              <a:t>お気軽にご相談ください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